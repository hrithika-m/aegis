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POD2 rebuilds the Entry touchpoint end-to-end using only the product-owner datasets, following Avra’s construct. Scope is Entry-only until Avra confirms.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0A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POD2</a:t>
            </a:r>
            <a:endParaRPr lang="en-US" sz="6200" dirty="0"/>
          </a:p>
        </p:txBody>
      </p:sp>
      <p:sp>
        <p:nvSpPr>
          <p:cNvPr id="4" name="Text 2"/>
          <p:cNvSpPr/>
          <p:nvPr/>
        </p:nvSpPr>
        <p:spPr>
          <a:xfrm>
            <a:off x="658368" y="246888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of the Day — the Entry touchpoint, rebuilt on the real product-owner data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58368" y="3657600"/>
            <a:ext cx="3383280" cy="1371600"/>
          </a:xfrm>
          <a:prstGeom prst="roundRect">
            <a:avLst>
              <a:gd name="adj" fmla="val 5333"/>
            </a:avLst>
          </a:prstGeom>
          <a:solidFill>
            <a:srgbClr val="16344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86968" y="3840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A0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data only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86968" y="42519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solely on the datasets Avra shared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15968" y="3657600"/>
            <a:ext cx="3383280" cy="1371600"/>
          </a:xfrm>
          <a:prstGeom prst="roundRect">
            <a:avLst>
              <a:gd name="adj" fmla="val 5333"/>
            </a:avLst>
          </a:prstGeom>
          <a:solidFill>
            <a:srgbClr val="16344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44568" y="3840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A0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Avra's construct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44568" y="42519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Seats × load factor → show-up → demand → lanes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973568" y="3657600"/>
            <a:ext cx="3383280" cy="1371600"/>
          </a:xfrm>
          <a:prstGeom prst="roundRect">
            <a:avLst>
              <a:gd name="adj" fmla="val 5333"/>
            </a:avLst>
          </a:prstGeom>
          <a:solidFill>
            <a:srgbClr val="16344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02168" y="3840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A0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Entry-only scope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202168" y="42519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Replicated to other touchpoints after sign-off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58368" y="6035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Bhogapuram / VTZ  ·  S26 season  ·  July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DID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six-step build, one dataset question at a time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084832"/>
            <a:ext cx="457200" cy="457200"/>
          </a:xfrm>
          <a:prstGeom prst="ellipse">
            <a:avLst/>
          </a:prstGeom>
          <a:solidFill>
            <a:srgbClr val="0B6E99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Isolate June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27889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real load actuals (30 days)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99432" y="2084832"/>
            <a:ext cx="457200" cy="457200"/>
          </a:xfrm>
          <a:prstGeom prst="ellipse">
            <a:avLst/>
          </a:prstGeom>
          <a:solidFill>
            <a:srgbClr val="0B6E99"/>
          </a:solidFill>
          <a:ln/>
        </p:spPr>
      </p:sp>
      <p:sp>
        <p:nvSpPr>
          <p:cNvPr id="11" name="Text 9"/>
          <p:cNvSpPr/>
          <p:nvPr/>
        </p:nvSpPr>
        <p:spPr>
          <a:xfrm>
            <a:off x="4599432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212080" y="21214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Analyse June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17720" y="27889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&amp; load-factor patterns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046720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02752" y="2084832"/>
            <a:ext cx="457200" cy="457200"/>
          </a:xfrm>
          <a:prstGeom prst="ellipse">
            <a:avLst/>
          </a:prstGeom>
          <a:solidFill>
            <a:srgbClr val="0B6E99"/>
          </a:solidFill>
          <a:ln/>
        </p:spPr>
      </p:sp>
      <p:sp>
        <p:nvSpPr>
          <p:cNvPr id="16" name="Text 14"/>
          <p:cNvSpPr/>
          <p:nvPr/>
        </p:nvSpPr>
        <p:spPr>
          <a:xfrm>
            <a:off x="8302752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915400" y="21214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HYD e-boarding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321040" y="27889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Entry show-up profile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40080" y="397764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96112" y="4233672"/>
            <a:ext cx="457200" cy="457200"/>
          </a:xfrm>
          <a:prstGeom prst="ellipse">
            <a:avLst/>
          </a:prstGeom>
          <a:solidFill>
            <a:srgbClr val="0B6E99"/>
          </a:solidFill>
          <a:ln/>
        </p:spPr>
      </p:sp>
      <p:sp>
        <p:nvSpPr>
          <p:cNvPr id="21" name="Text 19"/>
          <p:cNvSpPr/>
          <p:nvPr/>
        </p:nvSpPr>
        <p:spPr>
          <a:xfrm>
            <a:off x="896112" y="4233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508760" y="42702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twin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14400" y="49377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Twin’s Entry show-up profile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4343400" y="397764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99432" y="4233672"/>
            <a:ext cx="457200" cy="457200"/>
          </a:xfrm>
          <a:prstGeom prst="ellipse">
            <a:avLst/>
          </a:prstGeom>
          <a:solidFill>
            <a:srgbClr val="0B6E99"/>
          </a:solidFill>
          <a:ln/>
        </p:spPr>
      </p:sp>
      <p:sp>
        <p:nvSpPr>
          <p:cNvPr id="26" name="Text 24"/>
          <p:cNvSpPr/>
          <p:nvPr/>
        </p:nvSpPr>
        <p:spPr>
          <a:xfrm>
            <a:off x="4599432" y="4233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5212080" y="42702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617720" y="49377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matches, what doesn’t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8046720" y="397764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302752" y="4233672"/>
            <a:ext cx="457200" cy="45720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31" name="Text 29"/>
          <p:cNvSpPr/>
          <p:nvPr/>
        </p:nvSpPr>
        <p:spPr>
          <a:xfrm>
            <a:off x="8302752" y="4233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8915400" y="42702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Finalise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8321040" y="49377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Entry dataset for Avra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640080" y="63550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machine learning at this stage — every step is a simple, auditable calculation.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INPUTS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datasets, three roles in Avra’s construct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429000" cy="4206240"/>
          </a:xfrm>
          <a:prstGeom prst="roundRect">
            <a:avLst>
              <a:gd name="adj" fmla="val 2133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0B6E99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26060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June load actuals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32688" y="3246120"/>
            <a:ext cx="2926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load factor &amp; passenger volume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aircraft category (C / B / A)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the volume + load-factor layer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scan times → no show-up timing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29000" cy="4206240"/>
          </a:xfrm>
          <a:prstGeom prst="roundRect">
            <a:avLst>
              <a:gd name="adj" fmla="val 2133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7720" y="210312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16A0AD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17720" y="26060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HYD e-boarding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636008" y="3246120"/>
            <a:ext cx="2926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Passenger-level terminal-entry scans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 early = FLIGHT − ENTRY_SCAN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the show-up profile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— raw file never committed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1828800"/>
            <a:ext cx="3429000" cy="4206240"/>
          </a:xfrm>
          <a:prstGeom prst="roundRect">
            <a:avLst>
              <a:gd name="adj" fmla="val 2133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21040" y="210312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D98A2B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MODELLED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21040" y="26060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twin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339328" y="3246120"/>
            <a:ext cx="2926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VTZ schedule &amp; passengers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Seats × LF → show-up → demand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Meant to reproduce the two real layers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test if the model matches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Avra’s own dashboard is only a style template for how analysis should look — not a dataset, not compared against.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DATASET CAN ANSWER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every dataset can speak to every Entry dimension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143000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468880"/>
                <a:gridCol w="2468880"/>
                <a:gridCol w="24688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Dimension (Entry)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June loads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HYD e-boarding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Digital twin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Passenger volume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(daily)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Real, 2 days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Modelled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factor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Modelled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Aircraft mix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Per-flight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Modelled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Entry show-up profile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Modelled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Entry hourly demand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Modelled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394960"/>
            <a:ext cx="10972800" cy="960120"/>
          </a:xfrm>
          <a:prstGeom prst="roundRect">
            <a:avLst>
              <a:gd name="adj" fmla="val 7619"/>
            </a:avLst>
          </a:prstGeom>
          <a:solidFill>
            <a:srgbClr val="EAF6F5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Consequence:  </a:t>
            </a:r>
            <a:pPr indent="0" marL="0">
              <a:buNone/>
            </a:pPr>
            <a:r>
              <a:rPr lang="en-US" sz="135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loads has no scan times, so it cannot join the Entry show-up / timing comparison at all. That comparison is two-way — HYD e-boarding (real) vs digital twin. June’s only role at Entry is the volume + load-factor input.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1–2  ·  JUNE LOAD ACTUALS (REAL)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real June data shows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B6E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220,886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222199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June passengers (30 days)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28803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6A0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350215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narrow-body load factor (68–94% range)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4160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98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88% ↓ 78%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640080" y="478231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busiest Sunday vs quietest Monday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54406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C narrow-body = 95.3% of departing passengers.</a:t>
            </a:r>
            <a:endParaRPr lang="en-US" sz="1250" dirty="0"/>
          </a:p>
        </p:txBody>
      </p:sp>
      <p:pic>
        <p:nvPicPr>
          <p:cNvPr id="11" name="Image 0" descr="C:\Users\Maddineni Hrithika\Downloads\aegis\POD2\step2_june_analysis\june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1522243"/>
            <a:ext cx="7772400" cy="463647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4114800" y="6204437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dashboard — volume &amp; load-factor patterns from the real June data.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 ·  HYD E-BOARDING (REAL)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real Entry show-up profile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6A0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20,079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217627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entry records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389120" y="15544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B6E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389120" y="217627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bucket: 90–120 min early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138160" y="15544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98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08:00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8138160" y="217627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busiest entry hour</a:t>
            </a:r>
            <a:endParaRPr lang="en-US" sz="1250" dirty="0"/>
          </a:p>
        </p:txBody>
      </p:sp>
      <p:pic>
        <p:nvPicPr>
          <p:cNvPr id="10" name="Image 0" descr="C:\Users\Maddineni Hrithika\Downloads\aegis\POD2\step3_ews_eboarding\ews_entry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4718" y="2880360"/>
            <a:ext cx="8772084" cy="32918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22960" y="6217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 early = FLIGHT_TIME − TRML_ENT_SCAN_TIME, bucketed. Raw PII file not committed — only aggregates.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 ·  DIGITAL TWIN (MODELLED)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twin’s Entry show-up — first sign of trouble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217627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passengers show up &gt;150 min early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389120" y="15544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98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389120" y="217627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crammed into 60–120 min (real: 55%)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138160" y="15544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6B7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–85 min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8138160" y="217627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triangular peak, capped at 150</a:t>
            </a:r>
            <a:endParaRPr lang="en-US" sz="1250" dirty="0"/>
          </a:p>
        </p:txBody>
      </p:sp>
      <p:pic>
        <p:nvPicPr>
          <p:cNvPr id="10" name="Image 0" descr="C:\Users\Maddineni Hrithika\Downloads\aegis\POD2\step4_twin_entry\twin_entry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9335" y="2880360"/>
            <a:ext cx="8762850" cy="32918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22960" y="6217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 from the twin’s DEP_ENTER window, bucketed the same way as Step 3 for a like-for-like view.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 ·  REAL VS TWIN, LIKE-FOR-LIKE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twin matches the fleet, misses two behaviours</a:t>
            </a:r>
            <a:endParaRPr lang="en-US" sz="3000" dirty="0"/>
          </a:p>
        </p:txBody>
      </p:sp>
      <p:pic>
        <p:nvPicPr>
          <p:cNvPr id="4" name="Image 0" descr="C:\Users\Maddineni Hrithika\Downloads\aegis\POD2\step5_comparison\comparison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6898" y="1463040"/>
            <a:ext cx="9479163" cy="2880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437997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is strictly June ↔ HYD ↔ twin. Show-up panel is two-way (June has no data for it).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640080" y="507492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52120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Aircraft mix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55504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95.3 vs 95.5%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22960" y="5916168"/>
            <a:ext cx="1737360" cy="292608"/>
          </a:xfrm>
          <a:prstGeom prst="roundRect">
            <a:avLst>
              <a:gd name="adj" fmla="val 12500"/>
            </a:avLst>
          </a:prstGeom>
          <a:solidFill>
            <a:srgbClr val="2E8B57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591616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438144" y="507492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3621024" y="52120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 factor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621024" y="55504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82.1 vs 77.8%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621024" y="5916168"/>
            <a:ext cx="1737360" cy="292608"/>
          </a:xfrm>
          <a:prstGeom prst="roundRect">
            <a:avLst>
              <a:gd name="adj" fmla="val 12500"/>
            </a:avLst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3621024" y="591616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pt low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36208" y="507492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419088" y="52120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LF by weekday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419088" y="55504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rises vs flat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419088" y="5916168"/>
            <a:ext cx="1737360" cy="292608"/>
          </a:xfrm>
          <a:prstGeom prst="roundRect">
            <a:avLst>
              <a:gd name="adj" fmla="val 12500"/>
            </a:avLst>
          </a:prstGeom>
          <a:solidFill>
            <a:srgbClr val="C0392B"/>
          </a:solidFill>
          <a:ln/>
        </p:spPr>
      </p:sp>
      <p:sp>
        <p:nvSpPr>
          <p:cNvPr id="20" name="Text 17"/>
          <p:cNvSpPr/>
          <p:nvPr/>
        </p:nvSpPr>
        <p:spPr>
          <a:xfrm>
            <a:off x="6419088" y="591616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misses shape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034272" y="507492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9217152" y="52120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Show-up tail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217152" y="55504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vs 0% &gt;150m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9217152" y="5916168"/>
            <a:ext cx="1737360" cy="292608"/>
          </a:xfrm>
          <a:prstGeom prst="roundRect">
            <a:avLst>
              <a:gd name="adj" fmla="val 12500"/>
            </a:avLst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17152" y="591616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mis-calibrated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recalibrations, folded into the finalised dataset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57800" cy="3291840"/>
          </a:xfrm>
          <a:prstGeom prst="roundRect">
            <a:avLst>
              <a:gd name="adj" fmla="val 2222"/>
            </a:avLst>
          </a:prstGeom>
          <a:solidFill>
            <a:srgbClr val="16344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468880"/>
            <a:ext cx="457200" cy="457200"/>
          </a:xfrm>
          <a:prstGeom prst="ellipse">
            <a:avLst/>
          </a:prstGeom>
          <a:solidFill>
            <a:srgbClr val="16A0AD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248716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Show-up window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05840" y="333756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Entry from the MEASURED e-boarding buckets instead of the twin’s triangular window. Restores the &gt;150-minute tail automatically — exactly how Avra does it.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172200" y="2103120"/>
            <a:ext cx="5257800" cy="3291840"/>
          </a:xfrm>
          <a:prstGeom prst="roundRect">
            <a:avLst>
              <a:gd name="adj" fmla="val 2222"/>
            </a:avLst>
          </a:prstGeom>
          <a:solidFill>
            <a:srgbClr val="16344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92240" y="2468880"/>
            <a:ext cx="457200" cy="457200"/>
          </a:xfrm>
          <a:prstGeom prst="ellipse">
            <a:avLst/>
          </a:prstGeom>
          <a:solidFill>
            <a:srgbClr val="16A0AD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132320" y="248716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 factor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537960" y="333756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REAL June load factor by category and day-of-week (narrow-body ~82%, rising into the weekend) instead of a flat ~78% draw.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pure inputs to a deterministic calculation — no model training involved.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 ·  THE DELIVERABLE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finalised Entry dataset (Bhogapuram / VTZ)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830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seats × LF[cat, weekday]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24912" y="1783080"/>
            <a:ext cx="256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A0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944368" y="1783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035808" y="17830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show-up buckets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0" y="1783080"/>
            <a:ext cx="256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A0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248656" y="1783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340096" y="17830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demand (5-min)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33488" y="1783080"/>
            <a:ext cx="256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A0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552944" y="1783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44384" y="17830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30-min projection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637776" y="1783080"/>
            <a:ext cx="256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A0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857232" y="1783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948672" y="17830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gate-lanes = ⌈demand / 60⌉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329184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2960" y="35661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6E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5,820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22960" y="43434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departures across the season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438144" y="329184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621024" y="35661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A0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~882,800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3621024" y="43434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 entry passengers (~4,200/day)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36208" y="329184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419088" y="35661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of 6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6419088" y="43434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gate-lanes open at peak · 3 gates × A/B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9034272" y="329184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217152" y="35661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98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229</a:t>
            </a:r>
            <a:endParaRPr lang="en-US" sz="3400" dirty="0"/>
          </a:p>
        </p:txBody>
      </p:sp>
      <p:sp>
        <p:nvSpPr>
          <p:cNvPr id="29" name="Text 27"/>
          <p:cNvSpPr/>
          <p:nvPr/>
        </p:nvSpPr>
        <p:spPr>
          <a:xfrm>
            <a:off x="9217152" y="43434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30-min demand (busiest day, ~17:30)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40080" y="5440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the real VTZ schedule. At peak only 4 of the 6 gate-lanes (3 gates × A/B) are needed — 2 to spare. Lane speed to be confirmed with Avra.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DELIVERABLE  ·  FINALISED_ENTRY_DATASET.XLSX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on their schedule — and proven to match it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“Entry by Flight” sheet — the same 5,820 flights, with 3 columns appended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75895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280160"/>
                <a:gridCol w="731520"/>
                <a:gridCol w="822960"/>
                <a:gridCol w="1234440"/>
                <a:gridCol w="12801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 Flight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Aircraft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Cap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LF 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Entry Pax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Their est.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6E6426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A320N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B6E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163.1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6E845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B6E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163.1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IX2745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B737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B6E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165.7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39776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</a:t>
            </a:r>
            <a:pPr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columns we add.   </a:t>
            </a:r>
            <a:pPr indent="0" marL="0">
              <a:buNone/>
            </a:pPr>
            <a:r>
              <a:rPr lang="en-US" sz="1150" b="1" i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</a:t>
            </a:r>
            <a:pPr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the passenger estimate already in your schedule — our figure lands on it.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40080" y="4709160"/>
            <a:ext cx="7589520" cy="1600200"/>
          </a:xfrm>
          <a:prstGeom prst="roundRect">
            <a:avLst>
              <a:gd name="adj" fmla="val 4571"/>
            </a:avLst>
          </a:prstGeom>
          <a:solidFill>
            <a:srgbClr val="EAF6F5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4828032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0.993</a:t>
            </a:r>
            <a:endParaRPr lang="en-US" sz="6000" dirty="0"/>
          </a:p>
        </p:txBody>
      </p:sp>
      <p:sp>
        <p:nvSpPr>
          <p:cNvPr id="9" name="Text 6"/>
          <p:cNvSpPr/>
          <p:nvPr/>
        </p:nvSpPr>
        <p:spPr>
          <a:xfrm>
            <a:off x="3383280" y="489204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between our per-flight Entry Passengers and the estimate already in your schedule — across all 5,820 flights. Season totals agree within 6.5%.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503920" y="1600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YOUR DATA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503920" y="1965960"/>
            <a:ext cx="31546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5,820 flights, aircraft &amp; capacity — read straight from your schedule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factor = your real June actuals; show-up = real HYD e-boarding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Per-flight passenger numbers track your own estimate (0.993)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503920" y="4114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IT OPERATIONAL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503920" y="44805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Time-phased entry demand every 5 minutes — your schedule has none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30-minute projection → lanes required (peaks at 4)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factor varies by weekday — captures the Sunday peak, not a flat factor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INFRASTRUCTURE  ·  PER AVRA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gates × A/B — sized with room to spare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1790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scanning lanes; peak opens 4 (balance across gates)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1463040" cy="214884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209397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 01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96112" y="2532888"/>
            <a:ext cx="950976" cy="603504"/>
          </a:xfrm>
          <a:prstGeom prst="roundRect">
            <a:avLst>
              <a:gd name="adj" fmla="val 9091"/>
            </a:avLst>
          </a:prstGeom>
          <a:solidFill>
            <a:srgbClr val="2E8B57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2532888"/>
            <a:ext cx="9509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01-A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96112" y="3282696"/>
            <a:ext cx="950976" cy="603504"/>
          </a:xfrm>
          <a:prstGeom prst="roundRect">
            <a:avLst>
              <a:gd name="adj" fmla="val 9091"/>
            </a:avLst>
          </a:prstGeom>
          <a:solidFill>
            <a:srgbClr val="2E8B57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3282696"/>
            <a:ext cx="9509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01-B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267712" y="1965960"/>
            <a:ext cx="1463040" cy="214884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267712" y="209397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 02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523744" y="2532888"/>
            <a:ext cx="950976" cy="603504"/>
          </a:xfrm>
          <a:prstGeom prst="roundRect">
            <a:avLst>
              <a:gd name="adj" fmla="val 9091"/>
            </a:avLst>
          </a:prstGeom>
          <a:solidFill>
            <a:srgbClr val="2E8B57"/>
          </a:solidFill>
          <a:ln/>
        </p:spPr>
      </p:sp>
      <p:sp>
        <p:nvSpPr>
          <p:cNvPr id="14" name="Text 12"/>
          <p:cNvSpPr/>
          <p:nvPr/>
        </p:nvSpPr>
        <p:spPr>
          <a:xfrm>
            <a:off x="2523744" y="2532888"/>
            <a:ext cx="9509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02-A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523744" y="3282696"/>
            <a:ext cx="950976" cy="603504"/>
          </a:xfrm>
          <a:prstGeom prst="roundRect">
            <a:avLst>
              <a:gd name="adj" fmla="val 9091"/>
            </a:avLst>
          </a:prstGeom>
          <a:solidFill>
            <a:srgbClr val="DBE2E7"/>
          </a:solidFill>
          <a:ln/>
        </p:spPr>
      </p:sp>
      <p:sp>
        <p:nvSpPr>
          <p:cNvPr id="16" name="Text 14"/>
          <p:cNvSpPr/>
          <p:nvPr/>
        </p:nvSpPr>
        <p:spPr>
          <a:xfrm>
            <a:off x="2523744" y="3282696"/>
            <a:ext cx="9509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02-B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895344" y="1965960"/>
            <a:ext cx="1463040" cy="214884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895344" y="209397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 03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151376" y="2532888"/>
            <a:ext cx="950976" cy="603504"/>
          </a:xfrm>
          <a:prstGeom prst="roundRect">
            <a:avLst>
              <a:gd name="adj" fmla="val 9091"/>
            </a:avLst>
          </a:prstGeom>
          <a:solidFill>
            <a:srgbClr val="2E8B57"/>
          </a:solidFill>
          <a:ln/>
        </p:spPr>
      </p:sp>
      <p:sp>
        <p:nvSpPr>
          <p:cNvPr id="20" name="Text 18"/>
          <p:cNvSpPr/>
          <p:nvPr/>
        </p:nvSpPr>
        <p:spPr>
          <a:xfrm>
            <a:off x="4151376" y="2532888"/>
            <a:ext cx="9509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03-A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151376" y="3282696"/>
            <a:ext cx="950976" cy="603504"/>
          </a:xfrm>
          <a:prstGeom prst="roundRect">
            <a:avLst>
              <a:gd name="adj" fmla="val 9091"/>
            </a:avLst>
          </a:prstGeom>
          <a:solidFill>
            <a:srgbClr val="DBE2E7"/>
          </a:solidFill>
          <a:ln/>
        </p:spPr>
      </p:sp>
      <p:sp>
        <p:nvSpPr>
          <p:cNvPr id="22" name="Text 20"/>
          <p:cNvSpPr/>
          <p:nvPr/>
        </p:nvSpPr>
        <p:spPr>
          <a:xfrm>
            <a:off x="4151376" y="3282696"/>
            <a:ext cx="9509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03-B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" y="4343400"/>
            <a:ext cx="4882896" cy="457200"/>
          </a:xfrm>
          <a:prstGeom prst="roundRect">
            <a:avLst>
              <a:gd name="adj" fmla="val 10000"/>
            </a:avLst>
          </a:prstGeom>
          <a:solidFill>
            <a:srgbClr val="EAF6F5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4343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peak: </a:t>
            </a:r>
            <a:pPr indent="0" marL="0">
              <a:buNone/>
            </a:pPr>
            <a:r>
              <a:rPr lang="en-US" sz="125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of 6 lanes, all 3 gates open — 2 lanes spare (at 120 pax/hr/lane).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4892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open at peak    ■ spare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943600" y="1517904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the lane throughput is different… (peak lanes needed)</a:t>
            </a:r>
            <a:endParaRPr lang="en-US" sz="13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901952"/>
          <a:ext cx="566928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691640"/>
                <a:gridCol w="18288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Rate (pax/hr/lane)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Peak lanes (of 6)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Verdict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 — only 6 exist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D98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lanes used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D98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lanes used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Fits — 1 spare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  (default)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Comfortable — 2 spare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Comfortable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Lots of spare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28" name="Shape 25"/>
          <p:cNvSpPr/>
          <p:nvPr/>
        </p:nvSpPr>
        <p:spPr>
          <a:xfrm>
            <a:off x="5943600" y="5440680"/>
            <a:ext cx="5669280" cy="914400"/>
          </a:xfrm>
          <a:prstGeom prst="roundRect">
            <a:avLst>
              <a:gd name="adj" fmla="val 6000"/>
            </a:avLst>
          </a:prstGeom>
          <a:solidFill>
            <a:srgbClr val="EAF6F5"/>
          </a:solidFill>
          <a:ln/>
        </p:spPr>
      </p:sp>
      <p:sp>
        <p:nvSpPr>
          <p:cNvPr id="29" name="Text 26"/>
          <p:cNvSpPr/>
          <p:nvPr/>
        </p:nvSpPr>
        <p:spPr>
          <a:xfrm>
            <a:off x="6144768" y="553212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for Avra:  </a:t>
            </a:r>
            <a:pPr indent="0" marL="0">
              <a:buNone/>
            </a:pPr>
            <a:r>
              <a:rPr lang="en-US" sz="125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≥100 pax/hr/lane the 3 gates cope; below ~80 every lane is used and capacity gets tight. Confirm the ATRS rate — one constant re-runs everything.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CONFIRM WITH AVRA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questions before sign-off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72800" cy="1097280"/>
          </a:xfrm>
          <a:prstGeom prst="roundRect">
            <a:avLst>
              <a:gd name="adj" fmla="val 6667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56816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D98A2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5681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737360" y="1901952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Lane throughput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737360" y="22860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assumed 120 pax/hr/lane (ATRS 180 trays/hr, 1.5 trays/pax). Please confirm the rate — one constant re-runs the whole plan.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017520"/>
            <a:ext cx="10972800" cy="1097280"/>
          </a:xfrm>
          <a:prstGeom prst="roundRect">
            <a:avLst>
              <a:gd name="adj" fmla="val 6667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36976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D98A2B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23697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737360" y="3182112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 opening rule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737360" y="35661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assumed balancing across the 3 gates (one lane per gate first). Confirm this vs filling gate by gate.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297680"/>
            <a:ext cx="10972800" cy="1097280"/>
          </a:xfrm>
          <a:prstGeom prst="roundRect">
            <a:avLst>
              <a:gd name="adj" fmla="val 6667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4517136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D98A2B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5171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737360" y="4462272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Show-up data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737360" y="48463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e-boarding sample is 2 days — a fuller month would sharpen the day-of-week view.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5623560"/>
            <a:ext cx="10972800" cy="68580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/>
        </p:spPr>
      </p:sp>
      <p:sp>
        <p:nvSpPr>
          <p:cNvPr id="20" name="Shape 18"/>
          <p:cNvSpPr/>
          <p:nvPr/>
        </p:nvSpPr>
        <p:spPr>
          <a:xfrm>
            <a:off x="868680" y="5788152"/>
            <a:ext cx="365760" cy="36576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5788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17320" y="562356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by Avra:  </a:t>
            </a:r>
            <a:pPr indent="0" marL="0">
              <a:buNone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load data is June (both sheets are June — the July label was wrong). Using June actuals.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6A0A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Entry is built, consistent, and ready for Avra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10424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E7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&amp; volume match the real data; the two behavioural gaps are corrected.</a:t>
            </a:r>
            <a:endParaRPr lang="en-US" sz="16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E7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finalised Entry dataset is a pure, auditable calculation — ready to review.</a:t>
            </a:r>
            <a:endParaRPr lang="en-US" sz="16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E7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on Avra’s confirmation, replicate the six-step build for Security, Boarding and Belt.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E7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Modelling begins only once real touchpoint scan data accumulates after go-live.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640080" y="5212080"/>
            <a:ext cx="10972800" cy="960120"/>
          </a:xfrm>
          <a:prstGeom prst="roundRect">
            <a:avLst>
              <a:gd name="adj" fmla="val 7619"/>
            </a:avLst>
          </a:prstGeom>
          <a:solidFill>
            <a:srgbClr val="16344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53492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code and outputs live in </a:t>
            </a:r>
            <a:pPr indent="0" marL="0">
              <a:buNone/>
            </a:pPr>
            <a:r>
              <a:rPr lang="en-US" sz="1400" b="1" dirty="0">
                <a:solidFill>
                  <a:srgbClr val="16A0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POD2/</a:t>
            </a:r>
            <a:pPr indent="0" marL="0">
              <a:buNone/>
            </a:pPr>
            <a:r>
              <a:rPr lang="en-US" sz="1400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sub-folder per step, plus the consolidated Word write-up.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2026-07-17T11:28:13Z</dcterms:created>
  <dcterms:modified xsi:type="dcterms:W3CDTF">2026-07-17T11:28:13Z</dcterms:modified>
</cp:coreProperties>
</file>