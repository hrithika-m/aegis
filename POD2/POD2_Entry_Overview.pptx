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POD2 rebuilds the Entry touchpoint end-to-end using only the product-owner datasets, following Avra’s construct. Scope is Entry-only until Avra confirms.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0A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POD2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658368" y="24688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of the Day — the Entry touchpoint, rebuilt on the real product-owner data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58368" y="365760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163449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0BC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6968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0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data only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86968" y="42519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solely on the datasets Avra shared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15968" y="365760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163449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0BC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44568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0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Avra's construct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44568" y="42519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 × load factor → show-up → demand → lanes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73568" y="365760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163449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0BC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02168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0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Entry-only scope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02168" y="42519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Replicated to other touchpoints after sign-off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8368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Bhogapuram / VTZ  ·  S26 season  · 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DID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six-step build, one dataset question at a 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0BC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457200" cy="457200"/>
          </a:xfrm>
          <a:prstGeom prst="ellipse">
            <a:avLst/>
          </a:prstGeom>
          <a:solidFill>
            <a:srgbClr val="0B6E99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Isolate June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real load actuals (30 days)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0BC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2084832"/>
            <a:ext cx="457200" cy="457200"/>
          </a:xfrm>
          <a:prstGeom prst="ellipse">
            <a:avLst/>
          </a:prstGeom>
          <a:solidFill>
            <a:srgbClr val="0B6E99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12080" y="21214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June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7720" y="2788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&amp; load-factor patterns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0BC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02752" y="2084832"/>
            <a:ext cx="457200" cy="457200"/>
          </a:xfrm>
          <a:prstGeom prst="ellipse">
            <a:avLst/>
          </a:prstGeom>
          <a:solidFill>
            <a:srgbClr val="0B6E99"/>
          </a:solidFill>
          <a:ln/>
        </p:spPr>
      </p:sp>
      <p:sp>
        <p:nvSpPr>
          <p:cNvPr id="16" name="Text 14"/>
          <p:cNvSpPr/>
          <p:nvPr/>
        </p:nvSpPr>
        <p:spPr>
          <a:xfrm>
            <a:off x="8302752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915400" y="21214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HYD e-boarding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21040" y="2788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Entry show-up profile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397764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0BC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4233672"/>
            <a:ext cx="457200" cy="457200"/>
          </a:xfrm>
          <a:prstGeom prst="ellipse">
            <a:avLst/>
          </a:prstGeom>
          <a:solidFill>
            <a:srgbClr val="0B6E99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08760" y="42702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twin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14400" y="4937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Twin’s Entry show-up profile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343400" y="397764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0BC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9432" y="4233672"/>
            <a:ext cx="457200" cy="457200"/>
          </a:xfrm>
          <a:prstGeom prst="ellipse">
            <a:avLst/>
          </a:prstGeom>
          <a:solidFill>
            <a:srgbClr val="0B6E99"/>
          </a:solidFill>
          <a:ln/>
        </p:spPr>
      </p:sp>
      <p:sp>
        <p:nvSpPr>
          <p:cNvPr id="26" name="Text 24"/>
          <p:cNvSpPr/>
          <p:nvPr/>
        </p:nvSpPr>
        <p:spPr>
          <a:xfrm>
            <a:off x="4599432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212080" y="42702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617720" y="4937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matches, what doesn’t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046720" y="397764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0BC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02752" y="4233672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31" name="Text 29"/>
          <p:cNvSpPr/>
          <p:nvPr/>
        </p:nvSpPr>
        <p:spPr>
          <a:xfrm>
            <a:off x="8302752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915400" y="42702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Finalise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321040" y="4937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Entry dataset for Avra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machine learning at this stage — every step is a simple, auditable calculation.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datasets, three roles in Avra’s construct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4F7F9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0BC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0B6E9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June load actuals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32688" y="3246120"/>
            <a:ext cx="2926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load factor &amp; passenger volume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aircraft category (C / B / A)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Supplies the volume + load-factor layer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scan times → no show-up timing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4F7F9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0BC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1031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16A0AD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2606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HYD e-boarding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36008" y="3246120"/>
            <a:ext cx="2926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Passenger-level terminal-entry scans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early = FLIGHT − ENTRY_SCAN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Supplies the show-up profile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— raw file never committed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4F7F9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0BC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21031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D98A2B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21040" y="2606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twin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39328" y="3246120"/>
            <a:ext cx="2926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VTZ schedule &amp; passengers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 × LF → show-up → demand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Meant to reproduce the two real layers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test if the model matches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Avra’s own dashboard is only a style template for how analysis should look — not a dataset, not compared against.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DATASET CAN ANSWER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every dataset can speak to every Entry dimension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14300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468880"/>
                <a:gridCol w="2468880"/>
                <a:gridCol w="246888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Dimension (Entry)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June loads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HYD e-boarding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Digital twin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Passenger volume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(daily)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Real, 2 days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factor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Aircraft mix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Per-flight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show-up profile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hourly demand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39496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EAF6F5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0BC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55321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 </a:t>
            </a:r>
            <a:pPr indent="0" marL="0">
              <a:buNone/>
            </a:pPr>
            <a:r>
              <a:rPr lang="en-US" sz="135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loads has no scan times, so it cannot join the Entry show-up / timing comparison at all. That comparison is two-way — HYD e-boarding (real) vs digital twin. June’s only role at Entry is the volume + load-factor input.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1–2  ·  JUNE LOAD ACTUALS (REAL)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real June data shows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B6E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220,886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22199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June passengers (30 days)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6A0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50215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narrow-body load factor (68–94% range)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4160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88% ↓ 78%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47823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busiest Sunday vs quietest Monday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54406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 narrow-body = 95.3% of departing passengers.</a:t>
            </a:r>
            <a:endParaRPr lang="en-US" sz="1250" dirty="0"/>
          </a:p>
        </p:txBody>
      </p:sp>
      <p:pic>
        <p:nvPicPr>
          <p:cNvPr id="11" name="Image 0" descr="C:\Users\Maddineni Hrithika\Downloads\aegis\POD2\step2_june_analysis\june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522243"/>
            <a:ext cx="7772400" cy="463647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114800" y="6204437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dashboard — volume &amp; load-factor patterns from the real June data.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·  HYD E-BOARDING (REAL)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Entry show-up profile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6A0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20,079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7627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entry records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389120" y="15544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B6E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389120" y="217627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bucket: 90–120 min early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138160" y="15544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08:00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138160" y="217627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busiest entry hour</a:t>
            </a:r>
            <a:endParaRPr lang="en-US" sz="1250" dirty="0"/>
          </a:p>
        </p:txBody>
      </p:sp>
      <p:pic>
        <p:nvPicPr>
          <p:cNvPr id="10" name="Image 0" descr="C:\Users\Maddineni Hrithika\Downloads\aegis\POD2\step3_ews_eboarding\ews_entry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4718" y="2880360"/>
            <a:ext cx="8772084" cy="32918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6217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early = FLIGHT_TIME − TRML_ENT_SCAN_TIME, bucketed. Raw PII file not committed — only aggregates.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·  DIGITAL TWIN (MODELLED)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twin’s Entry show-up — first sign of trouble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7627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show up &gt;150 min early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389120" y="15544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389120" y="217627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crammed into 60–120 min (real: 55%)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138160" y="15544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6B7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–85 min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138160" y="217627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triangular peak, capped at 150</a:t>
            </a:r>
            <a:endParaRPr lang="en-US" sz="1250" dirty="0"/>
          </a:p>
        </p:txBody>
      </p:sp>
      <p:pic>
        <p:nvPicPr>
          <p:cNvPr id="10" name="Image 0" descr="C:\Users\Maddineni Hrithika\Downloads\aegis\POD2\step4_twin_entry\twin_entry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9335" y="2880360"/>
            <a:ext cx="8762850" cy="32918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6217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 from the twin’s DEP_ENTER window, bucketed the same way as Step 3 for a like-for-like view.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·  REAL VS TWIN, LIKE-FOR-LIKE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twin matches the fleet, misses two behaviours</a:t>
            </a:r>
            <a:endParaRPr lang="en-US" sz="3000" dirty="0"/>
          </a:p>
        </p:txBody>
      </p:sp>
      <p:pic>
        <p:nvPicPr>
          <p:cNvPr id="4" name="Image 0" descr="C:\Users\Maddineni Hrithika\Downloads\aegis\POD2\step5_comparison\comparison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6898" y="1463040"/>
            <a:ext cx="9479163" cy="2880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37997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is strictly June ↔ HYD ↔ twin. Show-up panel is two-way (June has no data for it).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40080" y="50749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0BC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5212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Aircraft mix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5550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95.3 vs 95.5%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5916168"/>
            <a:ext cx="1737360" cy="292608"/>
          </a:xfrm>
          <a:prstGeom prst="roundRect">
            <a:avLst>
              <a:gd name="adj" fmla="val 12500"/>
            </a:avLst>
          </a:prstGeom>
          <a:solidFill>
            <a:srgbClr val="2E8B57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5916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38144" y="50749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0BC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621024" y="5212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factor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621024" y="5550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82.1 vs 77.8%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621024" y="5916168"/>
            <a:ext cx="1737360" cy="292608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3621024" y="5916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pt low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36208" y="50749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0BC">
                <a:alpha val="3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19088" y="5212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LF by weekday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19088" y="5550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rises vs flat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419088" y="5916168"/>
            <a:ext cx="1737360" cy="292608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/>
        </p:spPr>
      </p:sp>
      <p:sp>
        <p:nvSpPr>
          <p:cNvPr id="20" name="Text 17"/>
          <p:cNvSpPr/>
          <p:nvPr/>
        </p:nvSpPr>
        <p:spPr>
          <a:xfrm>
            <a:off x="6419088" y="5916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shape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9034272" y="50749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0BC">
                <a:alpha val="3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9217152" y="5212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Show-up tail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217152" y="5550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vs 0% &gt;150m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9217152" y="5916168"/>
            <a:ext cx="1737360" cy="292608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/>
        </p:spPr>
      </p:sp>
      <p:sp>
        <p:nvSpPr>
          <p:cNvPr id="25" name="Text 22"/>
          <p:cNvSpPr/>
          <p:nvPr/>
        </p:nvSpPr>
        <p:spPr>
          <a:xfrm>
            <a:off x="9217152" y="5916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mis-calibrated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recalibrations, folded into the finalised dataset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257800" cy="3291840"/>
          </a:xfrm>
          <a:prstGeom prst="roundRect">
            <a:avLst>
              <a:gd name="adj" fmla="val 2222"/>
            </a:avLst>
          </a:prstGeom>
          <a:solidFill>
            <a:srgbClr val="163449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0BC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68880"/>
            <a:ext cx="457200" cy="457200"/>
          </a:xfrm>
          <a:prstGeom prst="ellipse">
            <a:avLst/>
          </a:prstGeom>
          <a:solidFill>
            <a:srgbClr val="16A0AD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248716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Show-up window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333756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Entry from the MEASURED e-boarding buckets instead of the twin’s triangular window. Restores the &gt;150-minute tail automatically — exactly how Avra does it.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2103120"/>
            <a:ext cx="5257800" cy="3291840"/>
          </a:xfrm>
          <a:prstGeom prst="roundRect">
            <a:avLst>
              <a:gd name="adj" fmla="val 2222"/>
            </a:avLst>
          </a:prstGeom>
          <a:solidFill>
            <a:srgbClr val="163449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0BC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468880"/>
            <a:ext cx="457200" cy="457200"/>
          </a:xfrm>
          <a:prstGeom prst="ellipse">
            <a:avLst/>
          </a:prstGeom>
          <a:solidFill>
            <a:srgbClr val="16A0AD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32320" y="248716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factor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37960" y="333756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REAL June load factor by category and day-of-week (narrow-body ~82%, rising into the weekend) instead of a flat ~78% draw.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pure inputs to a deterministic calculation — no model training involved.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·  THE DELIVERABLE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finalised Entry dataset (Bhogapuram / VTZ)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0BC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830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 × LF[cat, weekday]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24912" y="178308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A0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944368" y="178308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0BC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35808" y="17830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show-up buckets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178308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A0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248656" y="178308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0BC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40096" y="17830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demand (5-min)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33488" y="178308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A0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552944" y="178308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0BC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44384" y="17830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projection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37776" y="178308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A0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857232" y="178308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0BC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948672" y="17830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lanes = ⌈demand / 60⌉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2918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0BC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" y="3566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6E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5,820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822960" y="4343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departures across the season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438144" y="32918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0BC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3566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A0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~873,500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3621024" y="4343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entry passengers (~4,159/day)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36208" y="32918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0BC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19088" y="3566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6419088" y="4343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entry lanes required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034272" y="32918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0BC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217152" y="3566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229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9217152" y="4343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30-min demand (busiest day, 17:25)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0080" y="5440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entry pax rose from the twin’s 827k because the real ~82% load factor replaced the flat ~78%.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DELIVERABLE  ·  FINALISED_ENTRY_DATASET.XLSX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their schedule — and proven to match 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“Entry by Flight” sheet — the same 5,820 flights, with 3 columns appended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758952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280160"/>
                <a:gridCol w="731520"/>
                <a:gridCol w="822960"/>
                <a:gridCol w="1234440"/>
                <a:gridCol w="128016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 Flight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Aircraft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Cap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LF 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Entry Pax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Their est.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6E6426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A320N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6E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163.1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6E845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6E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163.1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IX2745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B737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6E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165.7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39776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pPr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columns we add.   </a:t>
            </a:r>
            <a:pPr indent="0" marL="0">
              <a:buNone/>
            </a:pPr>
            <a:r>
              <a:rPr lang="en-US" sz="1150" b="1" i="1" dirty="0">
                <a:solidFill>
                  <a:srgbClr val="0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pPr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the passenger estimate already in your schedule — our figure lands on it.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40080" y="4709160"/>
            <a:ext cx="7589520" cy="1600200"/>
          </a:xfrm>
          <a:prstGeom prst="roundRect">
            <a:avLst>
              <a:gd name="adj" fmla="val 4571"/>
            </a:avLst>
          </a:prstGeom>
          <a:solidFill>
            <a:srgbClr val="EAF6F5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0BC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4828032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0.993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3383280" y="489204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our per-flight Entry Passengers and the estimate already in your schedule — across all 5,820 flights. Season totals agree within 6.5%.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503920" y="1600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YOUR DATA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03920" y="1965960"/>
            <a:ext cx="3154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5,820 flights, aircraft &amp; capacity — read straight from your schedule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factor = your real June actuals; show-up = real HYD e-boarding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Per-flight passenger numbers track your own estimate (0.993)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503920" y="4114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IT OPERATIONAL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503920" y="448056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Time-phased entry demand every 5 minutes — your schedule has none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30-minute projection → lanes required (peaks at 4)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factor varies by weekday — captures the Sunday peak, not a flat factor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CONFIRM WITH AVRA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questions before sign-off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72800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0BC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39112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D98A2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39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28800" y="198424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E-boarding = 2 days only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0" y="240487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the overall show-up profile, but a full month is needed for day-of-week splits.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72800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0BC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456432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D98A2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4564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828800" y="340156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June sheet ambiguity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28800" y="382219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workbook’s second sheet is a July-labelled calculated copy; we used the clean June sheet only — confirm.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617720"/>
            <a:ext cx="10972800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0BC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873752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D98A2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87375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828800" y="481888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Throughput assumption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828800" y="523951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ATRS 180 trays/hr and 1.5 trays/pax → 120 pax/hr/lane (60 per 30 min). Confirm the rate.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6A0A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Entry is built, consistent, and ready for Avra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424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&amp; volume match the real data; the two behavioural gaps are corrected.</a:t>
            </a:r>
            <a:endParaRPr lang="en-US" sz="16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finalised Entry dataset is a pure, auditable calculation — ready to review.</a:t>
            </a:r>
            <a:endParaRPr lang="en-US" sz="16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on Avra’s confirmation, replicate the six-step build for Security, Boarding and Belt.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begins only once real touchpoint scan data accumulates after go-live.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40080" y="521208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163449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0BC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5349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 and outputs live in </a:t>
            </a:r>
            <a:pPr indent="0" marL="0">
              <a:buNone/>
            </a:pPr>
            <a:r>
              <a:rPr lang="en-US" sz="1400" b="1" dirty="0">
                <a:solidFill>
                  <a:srgbClr val="16A0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POD2/</a:t>
            </a:r>
            <a:pPr indent="0" marL="0">
              <a:buNone/>
            </a:pPr>
            <a:r>
              <a:rPr lang="en-US" sz="1400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sub-folder per step, plus the consolidated Word write-up.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2026-07-17T10:28:48Z</dcterms:created>
  <dcterms:modified xsi:type="dcterms:W3CDTF">2026-07-17T10:28:48Z</dcterms:modified>
</cp:coreProperties>
</file>